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e31c4d026e4cfc" /><Relationship Type="http://schemas.openxmlformats.org/officeDocument/2006/relationships/extended-properties" Target="/docProps/app.xml" Id="R48cc747e6a714f13" /><Relationship Type="http://schemas.openxmlformats.org/officeDocument/2006/relationships/officeDocument" Target="/ppt/presentation.xml" Id="R7a0a177eac544b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7b410ff59b474f"/>
  </p:sldMasterIdLst>
  <p:notesMasterIdLst>
    <p:notesMasterId xmlns:r="http://schemas.openxmlformats.org/officeDocument/2006/relationships" r:id="R7a247904628c47cc"/>
  </p:notesMasterIdLst>
  <p:sldIdLst>
    <p:sldId xmlns:r="http://schemas.openxmlformats.org/officeDocument/2006/relationships" id="256" r:id="Rc736e886ad854467"/>
    <p:sldId xmlns:r="http://schemas.openxmlformats.org/officeDocument/2006/relationships" id="257" r:id="R4504335d75a645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b880f084d446b7" /><Relationship Type="http://schemas.openxmlformats.org/officeDocument/2006/relationships/slideMaster" Target="/ppt/slideMasters/slideMaster1.xml" Id="Rc57b410ff59b474f" /><Relationship Type="http://schemas.openxmlformats.org/officeDocument/2006/relationships/notesMaster" Target="/ppt/notesMasters/notesMaster1.xml" Id="R7a247904628c47cc" /><Relationship Type="http://schemas.openxmlformats.org/officeDocument/2006/relationships/presProps" Target="/ppt/presProps.xml" Id="R9e02afbe0f0c4028" /><Relationship Type="http://schemas.openxmlformats.org/officeDocument/2006/relationships/viewProps" Target="/ppt/viewProps.xml" Id="Rc1b0f53f1e04444a" /><Relationship Type="http://schemas.openxmlformats.org/officeDocument/2006/relationships/tableStyles" Target="/ppt/tableStyles.xml" Id="R7528bbf0c4af4451" /><Relationship Type="http://schemas.openxmlformats.org/officeDocument/2006/relationships/slide" Target="/ppt/slides/slide1.xml" Id="Rc736e886ad854467" /><Relationship Type="http://schemas.openxmlformats.org/officeDocument/2006/relationships/slide" Target="/ppt/slides/slide2.xml" Id="R4504335d75a645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894d76a2d943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31d12492724793" /><Relationship Type="http://schemas.openxmlformats.org/officeDocument/2006/relationships/notesMaster" Target="/ppt/notesMasters/notesMaster1.xml" Id="R021bede0f20f46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24d618b27343d1" /><Relationship Type="http://schemas.openxmlformats.org/officeDocument/2006/relationships/notesMaster" Target="/ppt/notesMasters/notesMaster1.xml" Id="R7c121530c6494c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模板欄位由 $codex-ai-usage-report 自動填入。先收集英文姓名、中文姓名、統計起日與統計迄日；完成紀錄分析後再收集五項同仁自評。</a:t>
            </a:r>
          </a:p>
          <a:p xmlns:a="http://schemas.openxmlformats.org/drawingml/2006/main">
            <a:r>
              <a:t>統計期間含首尾日（Asia/Taipei）；部門：研發部。</a:t>
            </a:r>
          </a:p>
          <a:p xmlns:a="http://schemas.openxmlformats.org/drawingml/2006/main">
            <a:r>
              <a:t>Token 含 Codex 回報的 Cached Input，供部門額度與資源規劃；不得單獨作為個人績效、排名或工時判定。</a:t>
            </a:r>
          </a:p>
          <a:p xmlns:a="http://schemas.openxmlformats.org/drawingml/2006/main">
            <a:r>
              <a:t>低樣本規則：1–9 筆標示「樣本累積中」；0 筆仍產生兩頁並如實顯示無紀錄，不虛構內容。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Per-employee local Codex sessions under %USERPROFILE%/.codex/sessions</a:t>
            </a:r>
          </a:p>
          <a:p xmlns:a="http://schemas.openxmlformats.org/drawingml/2006/main">
            <a:r>
              <a:t>- Template standard: rd-codex-ai-usage-report-template v2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本頁保留代表工程應用、AI 綜合應用觀察、Skill 覆蓋率與 AI Value。</a:t>
            </a:r>
          </a:p>
          <a:p xmlns:a="http://schemas.openxmlformats.org/drawingml/2006/main">
            <a:r>
              <a:t>AI 綜合應用觀察必須先依可讀取的本機 Codex session 形成，再收集同仁自評；不得由自評分數改寫。</a:t>
            </a:r>
          </a:p>
          <a:p xmlns:a="http://schemas.openxmlformats.org/drawingml/2006/main">
            <a:r>
              <a:t>觀察包含使用投入與持續性、任務廣度、任務深度與複雜度、成果與實務價值、品質查核與風險意識、可複用性與成熟度六面向。</a:t>
            </a:r>
          </a:p>
          <a:p xmlns:a="http://schemas.openxmlformats.org/drawingml/2006/main">
            <a:r>
              <a:t>不作排名，不用 Token、活躍互動或單一分數直接判定績效，也不虛構 ROI、節省時數或效率百分比。</a:t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Per-employee local Codex sessions under %USERPROFILE%/.codex/sessions</a:t>
            </a:r>
          </a:p>
          <a:p xmlns:a="http://schemas.openxmlformats.org/drawingml/2006/main">
            <a:r>
              <a:t>- Template standard: rd-codex-ai-usage-report-template v2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aa5c4ed79348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9215b4257c4efb" /><Relationship Type="http://schemas.openxmlformats.org/officeDocument/2006/relationships/slideLayout" Target="/ppt/slideLayouts/slideLayout1.xml" Id="R9627921cc1fb49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27921cc1fb49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f21f9ff9be4c8e" /><Relationship Type="http://schemas.openxmlformats.org/officeDocument/2006/relationships/chart" Target="/ppt/slides/charts/chart1.xml" Id="R62cb11b58f514368" /><Relationship Type="http://schemas.openxmlformats.org/officeDocument/2006/relationships/notesSlide" Target="/ppt/notesSlides/notesSlide1.xml" Id="R0af6984bf2cc48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745eb59ffc4967" /><Relationship Type="http://schemas.openxmlformats.org/officeDocument/2006/relationships/notesSlide" Target="/ppt/notesSlides/notesSlide2.xml" Id="R29a797b2f19a4a78" /></Relationships>
</file>

<file path=ppt/slides/charts/chart1.xml><?xml version="1.0" encoding="utf-8"?>
<c:chartSpace xmlns:c="http://schemas.openxmlformats.org/drawingml/2006/chart">
  <c:lang val="en-US"/>
  <c:roundedCorners val="1"/>
  <c:style val="2"/>
  <c:chart>
    <c:autoTitleDeleted val="1"/>
    <c:plotArea>
      <c:doughnutChart>
        <c:ser>
          <c:idx val="0"/>
          <c:order val="0"/>
          <c:tx>
            <c:v>工作項目占比</c:v>
          </c:tx>
          <c:dPt>
            <c:idx val="0"/>
            <c:spPr>
              <a:solidFill xmlns:a="http://schemas.openxmlformats.org/drawingml/2006/main">
                <a:srgbClr val="175CD3"/>
              </a:solidFill>
            </c:spPr>
          </c:dPt>
          <c:dPt>
            <c:idx val="1"/>
            <c:spPr>
              <a:solidFill xmlns:a="http://schemas.openxmlformats.org/drawingml/2006/main">
                <a:srgbClr val="2E90FA"/>
              </a:solidFill>
            </c:spPr>
          </c:dPt>
          <c:dPt>
            <c:idx val="2"/>
            <c:spPr>
              <a:solidFill xmlns:a="http://schemas.openxmlformats.org/drawingml/2006/main">
                <a:srgbClr val="67E3F9"/>
              </a:solidFill>
            </c:spPr>
          </c:dPt>
          <c:dPt>
            <c:idx val="3"/>
            <c:spPr>
              <a:solidFill xmlns:a="http://schemas.openxmlformats.org/drawingml/2006/main">
                <a:srgbClr val="15B79E"/>
              </a:solidFill>
            </c:spPr>
          </c:dPt>
          <c:dPt>
            <c:idx val="4"/>
            <c:spPr>
              <a:solidFill xmlns:a="http://schemas.openxmlformats.org/drawingml/2006/main">
                <a:srgbClr val="7A5AF8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/>
                      <a:t>25%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/>
                      <a:t>25%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/>
                      <a:t>25%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/>
                      <a:t>25%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</c:dLbl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75" b="1">
                    <a:solidFill>
                      <a:srgbClr val="111827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Lit>
              <c:ptCount val="4"/>
              <c:pt idx="0">
                <c:v>工程設計／審查</c:v>
              </c:pt>
              <c:pt idx="1">
                <c:v>技術研究／選型</c:v>
              </c:pt>
              <c:pt idx="2">
                <c:v>工具／自動化</c:v>
              </c:pt>
              <c:pt idx="3">
                <c:v>文件／報告／溝通</c:v>
              </c:pt>
            </c:strLit>
          </c:cat>
          <c:val>
            <c:numLit>
              <c:formatCode>General</c:formatCode>
              <c:ptCount val="4"/>
              <c:pt idx="0">
                <c:v>25</c:v>
              </c:pt>
              <c:pt idx="1">
                <c:v>25</c:v>
              </c:pt>
              <c:pt idx="2">
                <c:v>25</c:v>
              </c:pt>
              <c:pt idx="3">
                <c:v>25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270"/>
        <c:holeSize val="58"/>
      </c:doughnutChart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1-eyebrow">
            <a:extLst xmlns:a="http://schemas.openxmlformats.org/drawingml/2006/main">
              <a:ext uri="{FF2B5EF4-FFF2-40B4-BE49-F238E27FC236}">
                <a16:creationId xmlns:a16="http://schemas.microsoft.com/office/drawing/2014/main" id="{878AF285-87A4-4F0A-A7BF-52867B4A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研發部 AI 使用報告｜個人兩頁摘要</a:t>
            </a:r>
          </a:p>
        </p:txBody>
      </p:sp>
      <p:sp>
        <p:nvSpPr>
          <p:cNvPr id="2" name="slide-1-title">
            <a:extLst xmlns:a="http://schemas.openxmlformats.org/drawingml/2006/main">
              <a:ext uri="{FF2B5EF4-FFF2-40B4-BE49-F238E27FC236}">
                <a16:creationId xmlns:a16="http://schemas.microsoft.com/office/drawing/2014/main" id="{E72B2798-5936-425D-9B3B-7031385E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1277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English Name（中文姓名）｜Codex 使用與工作價值</a:t>
            </a:r>
          </a:p>
        </p:txBody>
      </p:sp>
      <p:sp>
        <p:nvSpPr>
          <p:cNvPr id="3" name="slide-1-subtitle">
            <a:extLst xmlns:a="http://schemas.openxmlformats.org/drawingml/2006/main">
              <a:ext uri="{FF2B5EF4-FFF2-40B4-BE49-F238E27FC236}">
                <a16:creationId xmlns:a16="http://schemas.microsoft.com/office/drawing/2014/main" id="{EB162460-F823-4A51-A324-03AED528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1127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統計期間：YYYY/MM/DD–YYYY/MM/DD｜研發部｜僅納入工作相關內容</a:t>
            </a:r>
          </a:p>
        </p:txBody>
      </p:sp>
      <p:sp>
        <p:nvSpPr>
          <p:cNvPr id="4" name="slide-1-title-rule">
            <a:extLst xmlns:a="http://schemas.openxmlformats.org/drawingml/2006/main">
              <a:ext uri="{FF2B5EF4-FFF2-40B4-BE49-F238E27FC236}">
                <a16:creationId xmlns:a16="http://schemas.microsoft.com/office/drawing/2014/main" id="{03AC1FD3-A51F-4BC2-A45E-AEDDB6E7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-1-chart-title">
            <a:extLst xmlns:a="http://schemas.openxmlformats.org/drawingml/2006/main">
              <a:ext uri="{FF2B5EF4-FFF2-40B4-BE49-F238E27FC236}">
                <a16:creationId xmlns:a16="http://schemas.microsoft.com/office/drawing/2014/main" id="{35D9C97A-7444-42DA-9F24-DC145B68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09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工作分類｜AI 工作紀錄分布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457200" y="3257550"/>
          <a:ext xmlns:a="http://schemas.openxmlformats.org/drawingml/2006/main" cx="55245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cb11b58f514368"/>
          </a:graphicData>
        </a:graphic>
      </p:graphicFrame>
      <p:sp>
        <p:nvSpPr>
          <p:cNvPr id="8" name="slide-1-kpi-panel-1">
            <a:extLst xmlns:a="http://schemas.openxmlformats.org/drawingml/2006/main">
              <a:ext uri="{FF2B5EF4-FFF2-40B4-BE49-F238E27FC236}">
                <a16:creationId xmlns:a16="http://schemas.microsoft.com/office/drawing/2014/main" id="{BCAB2F1B-F93B-40A4-98F3-734A73E1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3581400" cy="1123950"/>
          </a:xfrm>
          <a:prstGeom xmlns:a="http://schemas.openxmlformats.org/drawingml/2006/main" prst="roundRect">
            <a:avLst>
              <a:gd name="adj" fmla="val 1016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7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-1-kpi-value-1">
            <a:extLst xmlns:a="http://schemas.openxmlformats.org/drawingml/2006/main">
              <a:ext uri="{FF2B5EF4-FFF2-40B4-BE49-F238E27FC236}">
                <a16:creationId xmlns:a16="http://schemas.microsoft.com/office/drawing/2014/main" id="{EE7A1748-2E6C-49EB-9EC1-F81A2E96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7170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0 筆</a:t>
            </a:r>
          </a:p>
        </p:txBody>
      </p:sp>
      <p:sp>
        <p:nvSpPr>
          <p:cNvPr id="10" name="slide-1-kpi-label-1">
            <a:extLst xmlns:a="http://schemas.openxmlformats.org/drawingml/2006/main">
              <a:ext uri="{FF2B5EF4-FFF2-40B4-BE49-F238E27FC236}">
                <a16:creationId xmlns:a16="http://schemas.microsoft.com/office/drawing/2014/main" id="{AF847D30-EF7A-42E1-AA69-8FF2D79F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71700"/>
            <a:ext cx="1771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AI 工作紀錄</a:t>
            </a:r>
          </a:p>
        </p:txBody>
      </p:sp>
      <p:sp>
        <p:nvSpPr>
          <p:cNvPr id="11" name="slide-1-kpi-detail-1">
            <a:extLst xmlns:a="http://schemas.openxmlformats.org/drawingml/2006/main">
              <a:ext uri="{FF2B5EF4-FFF2-40B4-BE49-F238E27FC236}">
                <a16:creationId xmlns:a16="http://schemas.microsoft.com/office/drawing/2014/main" id="{38029377-FAD0-462B-B03D-AB89E554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7175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 個專案群組</a:t>
            </a:r>
          </a:p>
        </p:txBody>
      </p:sp>
      <p:sp>
        <p:nvSpPr>
          <p:cNvPr id="12" name="slide-1-kpi-panel-2">
            <a:extLst xmlns:a="http://schemas.openxmlformats.org/drawingml/2006/main">
              <a:ext uri="{FF2B5EF4-FFF2-40B4-BE49-F238E27FC236}">
                <a16:creationId xmlns:a16="http://schemas.microsoft.com/office/drawing/2014/main" id="{0E428E55-825E-4B18-B2EA-E5A39008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00250"/>
            <a:ext cx="3581400" cy="1123950"/>
          </a:xfrm>
          <a:prstGeom xmlns:a="http://schemas.openxmlformats.org/drawingml/2006/main" prst="roundRect">
            <a:avLst>
              <a:gd name="adj" fmla="val 1016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7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lide-1-kpi-value-2">
            <a:extLst xmlns:a="http://schemas.openxmlformats.org/drawingml/2006/main">
              <a:ext uri="{FF2B5EF4-FFF2-40B4-BE49-F238E27FC236}">
                <a16:creationId xmlns:a16="http://schemas.microsoft.com/office/drawing/2014/main" id="{FE3CE55B-54D7-4F95-BC3C-9E36F43E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7170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0／0</a:t>
            </a:r>
          </a:p>
        </p:txBody>
      </p:sp>
      <p:sp>
        <p:nvSpPr>
          <p:cNvPr id="14" name="slide-1-kpi-label-2">
            <a:extLst xmlns:a="http://schemas.openxmlformats.org/drawingml/2006/main">
              <a:ext uri="{FF2B5EF4-FFF2-40B4-BE49-F238E27FC236}">
                <a16:creationId xmlns:a16="http://schemas.microsoft.com/office/drawing/2014/main" id="{57B60C7E-C906-43B3-A5FD-211143CE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17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使用天數</a:t>
            </a:r>
          </a:p>
        </p:txBody>
      </p:sp>
      <p:sp>
        <p:nvSpPr>
          <p:cNvPr id="15" name="slide-1-kpi-detail-2">
            <a:extLst xmlns:a="http://schemas.openxmlformats.org/drawingml/2006/main">
              <a:ext uri="{FF2B5EF4-FFF2-40B4-BE49-F238E27FC236}">
                <a16:creationId xmlns:a16="http://schemas.microsoft.com/office/drawing/2014/main" id="{E063362A-3A0A-4499-AE9B-91BADE85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約 0h 活躍互動</a:t>
            </a:r>
          </a:p>
        </p:txBody>
      </p:sp>
      <p:sp>
        <p:nvSpPr>
          <p:cNvPr id="16" name="slide-1-kpi-panel-3">
            <a:extLst xmlns:a="http://schemas.openxmlformats.org/drawingml/2006/main">
              <a:ext uri="{FF2B5EF4-FFF2-40B4-BE49-F238E27FC236}">
                <a16:creationId xmlns:a16="http://schemas.microsoft.com/office/drawing/2014/main" id="{C25DFEF5-3E39-4613-BD6C-B854D0D8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00250"/>
            <a:ext cx="3581400" cy="1123950"/>
          </a:xfrm>
          <a:prstGeom xmlns:a="http://schemas.openxmlformats.org/drawingml/2006/main" prst="roundRect">
            <a:avLst>
              <a:gd name="adj" fmla="val 1016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7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slide-1-kpi-value-3">
            <a:extLst xmlns:a="http://schemas.openxmlformats.org/drawingml/2006/main">
              <a:ext uri="{FF2B5EF4-FFF2-40B4-BE49-F238E27FC236}">
                <a16:creationId xmlns:a16="http://schemas.microsoft.com/office/drawing/2014/main" id="{7A26F8A4-E7BB-4162-ACE9-17686614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7170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8" name="slide-1-kpi-label-3">
            <a:extLst xmlns:a="http://schemas.openxmlformats.org/drawingml/2006/main">
              <a:ext uri="{FF2B5EF4-FFF2-40B4-BE49-F238E27FC236}">
                <a16:creationId xmlns:a16="http://schemas.microsoft.com/office/drawing/2014/main" id="{40DC7056-1608-40C8-B8D3-39F9E12B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1717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期間總 Token</a:t>
            </a:r>
          </a:p>
        </p:txBody>
      </p:sp>
      <p:sp>
        <p:nvSpPr>
          <p:cNvPr id="19" name="slide-1-kpi-detail-3">
            <a:extLst xmlns:a="http://schemas.openxmlformats.org/drawingml/2006/main">
              <a:ext uri="{FF2B5EF4-FFF2-40B4-BE49-F238E27FC236}">
                <a16:creationId xmlns:a16="http://schemas.microsoft.com/office/drawing/2014/main" id="{301DD969-D335-46F0-885E-E7DF3257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587545"/>
            <a:ext cx="2114550" cy="269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767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</a:t>
            </a:r>
            <a:endParaRPr sz="1350" b="0">
              <a:solidFill>
                <a:srgbClr val="66708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lide-1-footer">
            <a:extLst xmlns:a="http://schemas.openxmlformats.org/drawingml/2006/main">
              <a:ext uri="{FF2B5EF4-FFF2-40B4-BE49-F238E27FC236}">
                <a16:creationId xmlns:a16="http://schemas.microsoft.com/office/drawing/2014/main" id="{BF721F6F-C4E0-47D4-889B-D0515E52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※ 本報告供個人 AI 應用與績效考核參考之一；不作為單一判定或員工排名。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資料來源：Codex 本機工作 session｜Token 供部門額度規劃｜快照：YYYY/MM/DD</a:t>
            </a:r>
          </a:p>
        </p:txBody>
      </p:sp>
      <p:sp>
        <p:nvSpPr>
          <p:cNvPr id="21" name="slide-1-number">
            <a:extLst xmlns:a="http://schemas.openxmlformats.org/drawingml/2006/main">
              <a:ext uri="{FF2B5EF4-FFF2-40B4-BE49-F238E27FC236}">
                <a16:creationId xmlns:a16="http://schemas.microsoft.com/office/drawing/2014/main" id="{76A823CE-7011-4508-AE5F-1E6433EF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500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graphicFrame>
        <p:nvGraphicFramePr>
          <p:cNvPr id="45" name="slide-1-project-work-table"/>
          <p:cNvGraphicFramePr/>
          <p:nvPr/>
        </p:nvGraphicFramePr>
        <p:xfrm>
          <a:off xmlns:a="http://schemas.openxmlformats.org/drawingml/2006/main" x="6286500" y="3810000"/>
          <a:ext xmlns:a="http://schemas.openxmlformats.org/drawingml/2006/main" cx="5334000" cy="209359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43050"/>
                <a:gridCol w="1219200"/>
                <a:gridCol w="2571750"/>
              </a:tblGrid>
              <a:tr h="3048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專案／群組</a:t>
                      </a:r>
                    </a:p>
                  </a:txBody>
                  <a:tcPr marL="76200" marR="76200" marT="28575" marB="28575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AI 工作紀錄數</a:t>
                      </a:r>
                    </a:p>
                  </a:txBody>
                  <a:tcPr marL="76200" marR="76200" marT="28575" marB="28575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主要工作內容</a:t>
                      </a:r>
                    </a:p>
                  </a:txBody>
                  <a:tcPr marL="76200" marR="76200" marT="28575" marB="28575" anchor="ctr">
                    <a:solidFill>
                      <a:srgbClr val="EAF2FF"/>
                    </a:solidFill>
                  </a:tcPr>
                </a:tc>
              </a:tr>
              <a:tr h="29813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專案 1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0 筆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AI 協作摘要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29813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專案 2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0 筆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AI 協作摘要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29813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專案 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0 筆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AI 協作摘要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29813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專案 4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0 筆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AI 協作摘要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29813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專案 5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0 筆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AI 協作摘要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29813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其他 0 個群組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0 筆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88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其他工作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lide-1-kpi-detail-3">
            <a:extLst xmlns:a="http://schemas.openxmlformats.org/drawingml/2006/main">
              <a:ext uri="{FF2B5EF4-FFF2-40B4-BE49-F238E27FC236}">
                <a16:creationId xmlns:a16="http://schemas.microsoft.com/office/drawing/2014/main" id="{BA4507E6-C66D-55EF-DBEB-53AD0F28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951123"/>
            <a:ext cx="2581155" cy="306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944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/>
              <a:t>含 </a:t>
            </a:r>
            <a:r>
              <a:rPr sz="1350"/>
              <a:t>Cached Input</a:t>
            </a:r>
            <a:r>
              <a:rPr sz="1350"/>
              <a:t>｜作為額度需求評估依據</a:t>
            </a:r>
            <a:endParaRPr sz="1350" b="0">
              <a:solidFill>
                <a:srgbClr val="667085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82781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lide-2-eyebrow">
            <a:extLst xmlns:a="http://schemas.openxmlformats.org/drawingml/2006/main">
              <a:ext uri="{FF2B5EF4-FFF2-40B4-BE49-F238E27FC236}">
                <a16:creationId xmlns:a16="http://schemas.microsoft.com/office/drawing/2014/main" id="{3E95E4CA-6F07-4876-8AF9-336F7C8D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專案與 AI Value｜工程應用、Skill 深度、可複用成果與風險支援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80F15AE0-E898-42CA-B68B-C5510832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1277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Codex 工作紀錄｜代表應用與 AI Value</a:t>
            </a:r>
          </a:p>
        </p:txBody>
      </p:sp>
      <p:sp>
        <p:nvSpPr>
          <p:cNvPr id="3" name="slide-2-case-panel">
            <a:extLst xmlns:a="http://schemas.openxmlformats.org/drawingml/2006/main">
              <a:ext uri="{FF2B5EF4-FFF2-40B4-BE49-F238E27FC236}">
                <a16:creationId xmlns:a16="http://schemas.microsoft.com/office/drawing/2014/main" id="{87797AF2-DC66-4CC6-BCDD-1A58B107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112776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-2-case-heading">
            <a:extLst xmlns:a="http://schemas.openxmlformats.org/drawingml/2006/main">
              <a:ext uri="{FF2B5EF4-FFF2-40B4-BE49-F238E27FC236}">
                <a16:creationId xmlns:a16="http://schemas.microsoft.com/office/drawing/2014/main" id="{E63969F5-5A48-4E7D-8E29-2BC38907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02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代表工程應用｜3 個高頻主力案</a:t>
            </a:r>
          </a:p>
        </p:txBody>
      </p:sp>
      <p:sp>
        <p:nvSpPr>
          <p:cNvPr id="5" name="slide-2-case-problem">
            <a:extLst xmlns:a="http://schemas.openxmlformats.org/drawingml/2006/main">
              <a:ext uri="{FF2B5EF4-FFF2-40B4-BE49-F238E27FC236}">
                <a16:creationId xmlns:a16="http://schemas.microsoft.com/office/drawing/2014/main" id="{CAE64946-A618-4D5B-932B-724AF140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專案 1（0 筆）</a:t>
            </a:r>
          </a:p>
        </p:txBody>
      </p:sp>
      <p:sp>
        <p:nvSpPr>
          <p:cNvPr id="6" name="slide-2-case-problem-text">
            <a:extLst xmlns:a="http://schemas.openxmlformats.org/drawingml/2006/main">
              <a:ext uri="{FF2B5EF4-FFF2-40B4-BE49-F238E27FC236}">
                <a16:creationId xmlns:a16="http://schemas.microsoft.com/office/drawing/2014/main" id="{11B6D5E7-C49C-444D-8179-E5A4D38E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4000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AI 協作重點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分析／審查內容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產出／決策</a:t>
            </a:r>
          </a:p>
        </p:txBody>
      </p:sp>
      <p:sp>
        <p:nvSpPr>
          <p:cNvPr id="7" name="slide-2-case-rule-1">
            <a:extLst xmlns:a="http://schemas.openxmlformats.org/drawingml/2006/main">
              <a:ext uri="{FF2B5EF4-FFF2-40B4-BE49-F238E27FC236}">
                <a16:creationId xmlns:a16="http://schemas.microsoft.com/office/drawing/2014/main" id="{252DA46A-E1A2-4168-8639-6D759E1D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95500"/>
            <a:ext cx="190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lide-2-case-action">
            <a:extLst xmlns:a="http://schemas.openxmlformats.org/drawingml/2006/main">
              <a:ext uri="{FF2B5EF4-FFF2-40B4-BE49-F238E27FC236}">
                <a16:creationId xmlns:a16="http://schemas.microsoft.com/office/drawing/2014/main" id="{AEC90562-7701-42C0-B303-17D26CE64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1145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專案 2（0 筆）</a:t>
            </a:r>
          </a:p>
        </p:txBody>
      </p:sp>
      <p:sp>
        <p:nvSpPr>
          <p:cNvPr id="9" name="slide-2-case-action-text">
            <a:extLst xmlns:a="http://schemas.openxmlformats.org/drawingml/2006/main">
              <a:ext uri="{FF2B5EF4-FFF2-40B4-BE49-F238E27FC236}">
                <a16:creationId xmlns:a16="http://schemas.microsoft.com/office/drawing/2014/main" id="{7DF832AD-BBDC-4F11-9589-963FD617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62200"/>
            <a:ext cx="342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AI 協作重點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分析／審查內容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產出／決策</a:t>
            </a:r>
          </a:p>
        </p:txBody>
      </p:sp>
      <p:sp>
        <p:nvSpPr>
          <p:cNvPr id="10" name="slide-2-case-rule-2">
            <a:extLst xmlns:a="http://schemas.openxmlformats.org/drawingml/2006/main">
              <a:ext uri="{FF2B5EF4-FFF2-40B4-BE49-F238E27FC236}">
                <a16:creationId xmlns:a16="http://schemas.microsoft.com/office/drawing/2014/main" id="{68A37622-9101-4635-8D55-DA1EC219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95500"/>
            <a:ext cx="190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lide-2-case-result">
            <a:extLst xmlns:a="http://schemas.openxmlformats.org/drawingml/2006/main">
              <a:ext uri="{FF2B5EF4-FFF2-40B4-BE49-F238E27FC236}">
                <a16:creationId xmlns:a16="http://schemas.microsoft.com/office/drawing/2014/main" id="{7B3C24C1-977D-428C-8C64-71174951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114550"/>
            <a:ext cx="2305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專案 3（0 筆）</a:t>
            </a:r>
          </a:p>
        </p:txBody>
      </p:sp>
      <p:sp>
        <p:nvSpPr>
          <p:cNvPr id="12" name="slide-2-case-result-text">
            <a:extLst xmlns:a="http://schemas.openxmlformats.org/drawingml/2006/main">
              <a:ext uri="{FF2B5EF4-FFF2-40B4-BE49-F238E27FC236}">
                <a16:creationId xmlns:a16="http://schemas.microsoft.com/office/drawing/2014/main" id="{DD92070B-61C2-489B-9A06-5A0EC8A1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62200"/>
            <a:ext cx="2305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AI 協作重點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分析／審查內容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產出／決策</a:t>
            </a:r>
          </a:p>
        </p:txBody>
      </p:sp>
      <p:sp>
        <p:nvSpPr>
          <p:cNvPr id="13" name="slide-2-value-panel-1">
            <a:extLst xmlns:a="http://schemas.openxmlformats.org/drawingml/2006/main">
              <a:ext uri="{FF2B5EF4-FFF2-40B4-BE49-F238E27FC236}">
                <a16:creationId xmlns:a16="http://schemas.microsoft.com/office/drawing/2014/main" id="{68D15283-F625-4F8E-AD50-0C5F4892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35814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lide-2-value-no-1">
            <a:extLst xmlns:a="http://schemas.openxmlformats.org/drawingml/2006/main">
              <a:ext uri="{FF2B5EF4-FFF2-40B4-BE49-F238E27FC236}">
                <a16:creationId xmlns:a16="http://schemas.microsoft.com/office/drawing/2014/main" id="{597CA85B-50C5-46AA-849D-79A448E3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5" name="slide-2-value-title-1">
            <a:extLst xmlns:a="http://schemas.openxmlformats.org/drawingml/2006/main">
              <a:ext uri="{FF2B5EF4-FFF2-40B4-BE49-F238E27FC236}">
                <a16:creationId xmlns:a16="http://schemas.microsoft.com/office/drawing/2014/main" id="{2F8B038C-C36D-4EE6-85A0-4C4FF3A4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AI 綜合應用觀察</a:t>
            </a:r>
          </a:p>
        </p:txBody>
      </p:sp>
      <p:sp>
        <p:nvSpPr>
          <p:cNvPr id="16" name="slide-2-value-body-1">
            <a:extLst xmlns:a="http://schemas.openxmlformats.org/drawingml/2006/main">
              <a:ext uri="{FF2B5EF4-FFF2-40B4-BE49-F238E27FC236}">
                <a16:creationId xmlns:a16="http://schemas.microsoft.com/office/drawing/2014/main" id="{22F0F2DD-C853-4D15-8478-9CE2AAA5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304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本期依本機 Codex 工作紀錄整理的個人化應用觀察，將依實際任務、成果與查核證據產生。</a:t>
            </a:r>
          </a:p>
        </p:txBody>
      </p:sp>
      <p:sp>
        <p:nvSpPr>
          <p:cNvPr id="17" name="slide-2-value-panel-2">
            <a:extLst xmlns:a="http://schemas.openxmlformats.org/drawingml/2006/main">
              <a:ext uri="{FF2B5EF4-FFF2-40B4-BE49-F238E27FC236}">
                <a16:creationId xmlns:a16="http://schemas.microsoft.com/office/drawing/2014/main" id="{9DAC4562-67AD-4DFD-9A94-497FB590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35814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lide-2-value-no-2">
            <a:extLst xmlns:a="http://schemas.openxmlformats.org/drawingml/2006/main">
              <a:ext uri="{FF2B5EF4-FFF2-40B4-BE49-F238E27FC236}">
                <a16:creationId xmlns:a16="http://schemas.microsoft.com/office/drawing/2014/main" id="{B0A29CDC-04EC-4A67-B0A1-37659FCD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67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5B79E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9" name="slide-2-value-title-2">
            <a:extLst xmlns:a="http://schemas.openxmlformats.org/drawingml/2006/main">
              <a:ext uri="{FF2B5EF4-FFF2-40B4-BE49-F238E27FC236}">
                <a16:creationId xmlns:a16="http://schemas.microsoft.com/office/drawing/2014/main" id="{A8914FFA-B00C-4D6B-B3B7-328BC4B2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10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Skill 覆蓋率｜0%（0／0）</a:t>
            </a:r>
          </a:p>
        </p:txBody>
      </p:sp>
      <p:sp>
        <p:nvSpPr>
          <p:cNvPr id="20" name="slide-2-value-body-2">
            <a:extLst xmlns:a="http://schemas.openxmlformats.org/drawingml/2006/main">
              <a:ext uri="{FF2B5EF4-FFF2-40B4-BE49-F238E27FC236}">
                <a16:creationId xmlns:a16="http://schemas.microsoft.com/office/drawing/2014/main" id="{C2A7F3F1-AFA2-4ECA-9B6D-DFD46A81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67200"/>
            <a:ext cx="304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尚未偵測到 Skill 紀錄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—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—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—</a:t>
            </a:r>
          </a:p>
        </p:txBody>
      </p:sp>
      <p:sp>
        <p:nvSpPr>
          <p:cNvPr id="21" name="slide-2-value-panel-3">
            <a:extLst xmlns:a="http://schemas.openxmlformats.org/drawingml/2006/main">
              <a:ext uri="{FF2B5EF4-FFF2-40B4-BE49-F238E27FC236}">
                <a16:creationId xmlns:a16="http://schemas.microsoft.com/office/drawing/2014/main" id="{81690070-E389-4C76-8A35-2F8ECF3A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35814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lide-2-value-no-3">
            <a:extLst xmlns:a="http://schemas.openxmlformats.org/drawingml/2006/main">
              <a:ext uri="{FF2B5EF4-FFF2-40B4-BE49-F238E27FC236}">
                <a16:creationId xmlns:a16="http://schemas.microsoft.com/office/drawing/2014/main" id="{1BA9F434-ED79-4D71-BDDA-57875515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67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7A5AF8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3" name="slide-2-value-title-3">
            <a:extLst xmlns:a="http://schemas.openxmlformats.org/drawingml/2006/main">
              <a:ext uri="{FF2B5EF4-FFF2-40B4-BE49-F238E27FC236}">
                <a16:creationId xmlns:a16="http://schemas.microsoft.com/office/drawing/2014/main" id="{674FE3C3-8EF4-4AF5-9522-CBD34A32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100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AI 的證據與自評</a:t>
            </a:r>
          </a:p>
        </p:txBody>
      </p:sp>
      <p:sp>
        <p:nvSpPr>
          <p:cNvPr id="25" name="slide-2-next-step">
            <a:extLst xmlns:a="http://schemas.openxmlformats.org/drawingml/2006/main">
              <a:ext uri="{FF2B5EF4-FFF2-40B4-BE49-F238E27FC236}">
                <a16:creationId xmlns:a16="http://schemas.microsoft.com/office/drawing/2014/main" id="{BB711340-D56E-4D54-9C1D-7AE8FFDD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5CD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5CD3"/>
                </a:solidFill>
                <a:latin typeface="Arial"/>
                <a:ea typeface="Arial"/>
                <a:cs typeface="Arial"/>
              </a:rPr>
              <a:t>AI 建議｜依本期可回溯的工作證據產生個人化下一步建議。</a:t>
            </a:r>
          </a:p>
        </p:txBody>
      </p:sp>
      <p:sp>
        <p:nvSpPr>
          <p:cNvPr id="26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CAB1B2C0-9E93-4B65-8A3A-AE6BB97C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500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graphicFrame>
        <p:nvGraphicFramePr>
          <p:cNvPr id="54" name="slide-2-value-table-3"/>
          <p:cNvGraphicFramePr/>
          <p:nvPr/>
        </p:nvGraphicFramePr>
        <p:xfrm>
          <a:off xmlns:a="http://schemas.openxmlformats.org/drawingml/2006/main" x="8420100" y="4267200"/>
          <a:ext xmlns:a="http://schemas.openxmlformats.org/drawingml/2006/main" cx="3048000" cy="1333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809625"/>
                <a:gridCol w="809625"/>
              </a:tblGrid>
              <a:tr h="209550">
                <a:tc>
                  <a:txBody>
                    <a:bodyPr/>
                    <a:lstStyle/>
                    <a:p>
                      <a:pPr algn="ctr"/>
                      <a:r>
                        <a:rPr sz="7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面向</a:t>
                      </a:r>
                    </a:p>
                  </a:txBody>
                  <a:tcPr marL="38100" marR="38100" marT="9525" marB="9525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AI 證據</a:t>
                      </a:r>
                    </a:p>
                  </a:txBody>
                  <a:tcPr marL="38100" marR="38100" marT="9525" marB="9525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8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同仁自評</a:t>
                      </a:r>
                    </a:p>
                  </a:txBody>
                  <a:tcPr marL="38100" marR="38100" marT="9525" marB="9525" anchor="ctr">
                    <a:solidFill>
                      <a:srgbClr val="EAF2FF"/>
                    </a:solidFill>
                  </a:tcPr>
                </a:tc>
              </a:tr>
              <a:tr h="224790">
                <a:tc>
                  <a:txBody>
                    <a:bodyPr/>
                    <a:lstStyle/>
                    <a:p>
                      <a:pPr algn="l"/>
                      <a:r>
                        <a:rPr sz="825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任務推進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</a:tr>
              <a:tr h="224790">
                <a:tc>
                  <a:txBody>
                    <a:bodyPr/>
                    <a:lstStyle/>
                    <a:p>
                      <a:pPr algn="l"/>
                      <a:r>
                        <a:rPr sz="825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品質與查核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</a:tr>
              <a:tr h="224790">
                <a:tc>
                  <a:txBody>
                    <a:bodyPr/>
                    <a:lstStyle/>
                    <a:p>
                      <a:pPr algn="l"/>
                      <a:r>
                        <a:rPr sz="825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可複用成果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</a:tr>
              <a:tr h="224790">
                <a:tc>
                  <a:txBody>
                    <a:bodyPr/>
                    <a:lstStyle/>
                    <a:p>
                      <a:pPr algn="l"/>
                      <a:r>
                        <a:rPr sz="825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風險辨識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</a:tr>
              <a:tr h="224790">
                <a:tc>
                  <a:txBody>
                    <a:bodyPr/>
                    <a:lstStyle/>
                    <a:p>
                      <a:pPr algn="l"/>
                      <a:r>
                        <a:rPr sz="825">
                          <a:solidFill>
                            <a:srgbClr val="667085"/>
                          </a:solidFill>
                          <a:latin typeface="Arial"/>
                          <a:ea typeface="Arial"/>
                          <a:cs typeface="Arial"/>
                        </a:rPr>
                        <a:t>工作效率提升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55DCC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38100" marR="38100" marT="9525" marB="9525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38105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2026-08-17T13:49:08.9170000Z</dcterms:created>
  <dcterms:modified xsi:type="dcterms:W3CDTF">2026-08-17T13:49:08.9170000Z</dcterms:modified>
</coreProperties>
</file>