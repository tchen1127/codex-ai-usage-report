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c70db53674c7a" /><Relationship Type="http://schemas.openxmlformats.org/officeDocument/2006/relationships/extended-properties" Target="/docProps/app.xml" Id="R9d5b6d0c05884956" /><Relationship Type="http://schemas.openxmlformats.org/officeDocument/2006/relationships/officeDocument" Target="/ppt/presentation.xml" Id="R9f34a3a222be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76f81f8dc470b"/>
  </p:sldMasterIdLst>
  <p:notesMasterIdLst>
    <p:notesMasterId xmlns:r="http://schemas.openxmlformats.org/officeDocument/2006/relationships" r:id="R66957bcdf74c4a3e"/>
  </p:notesMasterIdLst>
  <p:sldIdLst>
    <p:sldId xmlns:r="http://schemas.openxmlformats.org/officeDocument/2006/relationships" id="256" r:id="R82fd2456c56a4bfb"/>
    <p:sldId xmlns:r="http://schemas.openxmlformats.org/officeDocument/2006/relationships" id="257" r:id="R54d65c40d456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d8e0d108da4ce3" /><Relationship Type="http://schemas.openxmlformats.org/officeDocument/2006/relationships/slideMaster" Target="/ppt/slideMasters/slideMaster1.xml" Id="Re6376f81f8dc470b" /><Relationship Type="http://schemas.openxmlformats.org/officeDocument/2006/relationships/notesMaster" Target="/ppt/notesMasters/notesMaster1.xml" Id="R66957bcdf74c4a3e" /><Relationship Type="http://schemas.openxmlformats.org/officeDocument/2006/relationships/presProps" Target="/ppt/presProps.xml" Id="Re43ac3a9dcfe4688" /><Relationship Type="http://schemas.openxmlformats.org/officeDocument/2006/relationships/viewProps" Target="/ppt/viewProps.xml" Id="Rfee24e7beab44053" /><Relationship Type="http://schemas.openxmlformats.org/officeDocument/2006/relationships/tableStyles" Target="/ppt/tableStyles.xml" Id="R453d4336b5f04a59" /><Relationship Type="http://schemas.openxmlformats.org/officeDocument/2006/relationships/slide" Target="/ppt/slides/slide1.xml" Id="R82fd2456c56a4bfb" /><Relationship Type="http://schemas.openxmlformats.org/officeDocument/2006/relationships/slide" Target="/ppt/slides/slide2.xml" Id="R54d65c40d456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fb1f73bd0f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9e4b462384482" /><Relationship Type="http://schemas.openxmlformats.org/officeDocument/2006/relationships/notesMaster" Target="/ppt/notesMasters/notesMaster1.xml" Id="Raba0cccdaf4348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b60161d89f4e2a" /><Relationship Type="http://schemas.openxmlformats.org/officeDocument/2006/relationships/notesMaster" Target="/ppt/notesMasters/notesMaster1.xml" Id="R54fa462b043643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模板欄位由 $codex-ai-usage-report 自動填入。使用者只需提供英文姓名與中文姓名。</a:t>
            </a:r>
          </a:p>
          <a:p xmlns:a="http://schemas.openxmlformats.org/drawingml/2006/main">
            <a:r>
              <a:t>統計期間由使用者提供起日與迄日，含首尾日（Asia/Taipei）；部門：研發部。</a:t>
            </a:r>
          </a:p>
          <a:p xmlns:a="http://schemas.openxmlformats.org/drawingml/2006/main">
            <a:r>
              <a:t>Token 含 Codex 回報的 Cached Input，供部門額度與資源規劃；不得單獨作為個人績效、排名或工時判定。</a:t>
            </a:r>
          </a:p>
          <a:p xmlns:a="http://schemas.openxmlformats.org/drawingml/2006/main">
            <a:r>
              <a:t>低樣本規則：1–9 筆標示「樣本累積中」；0 筆仍產生兩頁並如實顯示無紀錄，不虛構內容。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Per-employee local Codex sessions under %USERPROFILE%/.codex/sessions</a:t>
            </a:r>
          </a:p>
          <a:p xmlns:a="http://schemas.openxmlformats.org/drawingml/2006/main">
            <a:r>
              <a:t>- Template standard: rd-codex-ai-usage-report-template v1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本頁用於記錄 AI 是否協助實際工作，可作為個人績效與考核的參考之一；不作單一判定或員工排名。</a:t>
            </a:r>
          </a:p>
          <a:p xmlns:a="http://schemas.openxmlformats.org/drawingml/2006/main">
            <a:r>
              <a:t>AI Value 使用四個助益面向：任務推進、品質與查核、可複用成果、風險辨識。</a:t>
            </a:r>
          </a:p>
          <a:p xmlns:a="http://schemas.openxmlformats.org/drawingml/2006/main">
            <a:r>
              <a:t>有足夠證據時顯示「已觀察」並附短證據；紀錄較少時顯示「初步觀察」或「資料累積中」，不顯示低分。</a:t>
            </a:r>
          </a:p>
          <a:p xmlns:a="http://schemas.openxmlformats.org/drawingml/2006/main">
            <a:r>
              <a:t>Skill 覆蓋率為偵測到 SKILL.md 使用的工作紀錄數／工作紀錄總數；同一 Skill 在同一工作最多計 1 次。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Per-employee local Codex sessions under %USERPROFILE%/.codex/sessions</a:t>
            </a:r>
          </a:p>
          <a:p xmlns:a="http://schemas.openxmlformats.org/drawingml/2006/main">
            <a:r>
              <a:t>- Template standard: rd-codex-ai-usage-report-template v1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4ab1e224a4f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48d5bfd0d48d8" /><Relationship Type="http://schemas.openxmlformats.org/officeDocument/2006/relationships/slideLayout" Target="/ppt/slideLayouts/slideLayout1.xml" Id="Rb648a8d0bec7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8a8d0bec7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a046e79664c39" /><Relationship Type="http://schemas.openxmlformats.org/officeDocument/2006/relationships/chart" Target="/ppt/slides/charts/chart1.xml" Id="R2edbc4cd884641a6" /><Relationship Type="http://schemas.openxmlformats.org/officeDocument/2006/relationships/notesSlide" Target="/ppt/notesSlides/notesSlide1.xml" Id="Rc727a4b84a73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0b51d194f495b" /><Relationship Type="http://schemas.openxmlformats.org/officeDocument/2006/relationships/notesSlide" Target="/ppt/notesSlides/notesSlide2.xml" Id="Raeda3bff191040e4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doughnutChart>
        <c:ser>
          <c:idx val="0"/>
          <c:order val="0"/>
          <c:tx>
            <c:v>工作項目占比</c:v>
          </c:tx>
          <c:dPt>
            <c:idx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spPr>
              <a:solidFill xmlns:a="http://schemas.openxmlformats.org/drawingml/2006/main">
                <a:srgbClr val="2E90FA"/>
              </a:solidFill>
            </c:spPr>
          </c:dPt>
          <c:dPt>
            <c:idx val="2"/>
            <c:spPr>
              <a:solidFill xmlns:a="http://schemas.openxmlformats.org/drawingml/2006/main">
                <a:srgbClr val="67E3F9"/>
              </a:solidFill>
            </c:spPr>
          </c:dPt>
          <c:dPt>
            <c:idx val="3"/>
            <c:spPr>
              <a:solidFill xmlns:a="http://schemas.openxmlformats.org/drawingml/2006/main">
                <a:srgbClr val="15B79E"/>
              </a:solidFill>
            </c:spPr>
          </c:dPt>
          <c:dPt>
            <c:idx val="4"/>
            <c:spPr>
              <a:solidFill xmlns:a="http://schemas.openxmlformats.org/drawingml/2006/main">
                <a:srgbClr val="7A5AF8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25%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25%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25%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25%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11827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Lit>
              <c:ptCount val="4"/>
              <c:pt idx="0">
                <c:v>工程設計／審查</c:v>
              </c:pt>
              <c:pt idx="1">
                <c:v>技術研究／選型</c:v>
              </c:pt>
              <c:pt idx="2">
                <c:v>工具／自動化</c:v>
              </c:pt>
              <c:pt idx="3">
                <c:v>文件／報告／溝通</c:v>
              </c:pt>
            </c:strLit>
          </c:cat>
          <c:val>
            <c:numLit>
              <c:formatCode>General</c:formatCode>
              <c:ptCount val="4"/>
              <c:pt idx="0">
                <c:v>25</c:v>
              </c:pt>
              <c:pt idx="1">
                <c:v>25</c:v>
              </c:pt>
              <c:pt idx="2">
                <c:v>25</c:v>
              </c:pt>
              <c:pt idx="3">
                <c:v>25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  <c:holeSize val="58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878AF285-87A4-4F0A-A7BF-52867B4A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研發部 AI 使用報告｜個人兩頁摘要</a:t>
            </a:r>
          </a:p>
        </p:txBody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E72B2798-5936-425D-9B3B-7031385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English Name（中文姓名）｜Codex 使用與工作價值</a:t>
            </a:r>
          </a:p>
        </p:txBody>
      </p:sp>
      <p:sp>
        <p:nvSpPr>
          <p:cNvPr id="3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EB162460-F823-4A51-A324-03AED528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統計期間：YYYY/MM/DD–YYYY/MM/DD｜研發部｜僅納入工作相關內容</a:t>
            </a:r>
          </a:p>
        </p:txBody>
      </p:sp>
      <p:sp>
        <p:nvSpPr>
          <p:cNvPr id="4" name="slide-1-title-rule">
            <a:extLst xmlns:a="http://schemas.openxmlformats.org/drawingml/2006/main">
              <a:ext uri="{FF2B5EF4-FFF2-40B4-BE49-F238E27FC236}">
                <a16:creationId xmlns:a16="http://schemas.microsoft.com/office/drawing/2014/main" id="{03AC1FD3-A51F-4BC2-A45E-AEDDB6E7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-1-chart-title">
            <a:extLst xmlns:a="http://schemas.openxmlformats.org/drawingml/2006/main">
              <a:ext uri="{FF2B5EF4-FFF2-40B4-BE49-F238E27FC236}">
                <a16:creationId xmlns:a16="http://schemas.microsoft.com/office/drawing/2014/main" id="{35D9C97A-7444-42DA-9F24-DC145B6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Top 專案｜AI 工作紀錄分布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57200" y="3257550"/>
          <a:ext xmlns:a="http://schemas.openxmlformats.org/drawingml/2006/main" cx="5524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dbc4cd884641a6"/>
          </a:graphicData>
        </a:graphic>
      </p:graphicFrame>
      <p:sp>
        <p:nvSpPr>
          <p:cNvPr id="8" name="slide-1-kpi-panel-1">
            <a:extLst xmlns:a="http://schemas.openxmlformats.org/drawingml/2006/main">
              <a:ext uri="{FF2B5EF4-FFF2-40B4-BE49-F238E27FC236}">
                <a16:creationId xmlns:a16="http://schemas.microsoft.com/office/drawing/2014/main" id="{BCAB2F1B-F93B-40A4-98F3-734A73E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581400" cy="1123950"/>
          </a:xfrm>
          <a:prstGeom xmlns:a="http://schemas.openxmlformats.org/drawingml/2006/main" prst="roundRect">
            <a:avLst>
              <a:gd name="adj" fmla="val 101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-1-kpi-value-1">
            <a:extLst xmlns:a="http://schemas.openxmlformats.org/drawingml/2006/main">
              <a:ext uri="{FF2B5EF4-FFF2-40B4-BE49-F238E27FC236}">
                <a16:creationId xmlns:a16="http://schemas.microsoft.com/office/drawing/2014/main" id="{EE7A1748-2E6C-49EB-9EC1-F81A2E9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 筆</a:t>
            </a:r>
          </a:p>
        </p:txBody>
      </p:sp>
      <p:sp>
        <p:nvSpPr>
          <p:cNvPr id="10" name="slide-1-kpi-label-1">
            <a:extLst xmlns:a="http://schemas.openxmlformats.org/drawingml/2006/main">
              <a:ext uri="{FF2B5EF4-FFF2-40B4-BE49-F238E27FC236}">
                <a16:creationId xmlns:a16="http://schemas.microsoft.com/office/drawing/2014/main" id="{AF847D30-EF7A-42E1-AA69-8FF2D79F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717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工作紀錄</a:t>
            </a:r>
          </a:p>
        </p:txBody>
      </p:sp>
      <p:sp>
        <p:nvSpPr>
          <p:cNvPr id="11" name="slide-1-kpi-detail-1">
            <a:extLst xmlns:a="http://schemas.openxmlformats.org/drawingml/2006/main">
              <a:ext uri="{FF2B5EF4-FFF2-40B4-BE49-F238E27FC236}">
                <a16:creationId xmlns:a16="http://schemas.microsoft.com/office/drawing/2014/main" id="{38029377-FAD0-462B-B03D-AB89E554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 個專案群組</a:t>
            </a:r>
          </a:p>
        </p:txBody>
      </p:sp>
      <p:sp>
        <p:nvSpPr>
          <p:cNvPr id="12" name="slide-1-kpi-panel-2">
            <a:extLst xmlns:a="http://schemas.openxmlformats.org/drawingml/2006/main">
              <a:ext uri="{FF2B5EF4-FFF2-40B4-BE49-F238E27FC236}">
                <a16:creationId xmlns:a16="http://schemas.microsoft.com/office/drawing/2014/main" id="{0E428E55-825E-4B18-B2EA-E5A39008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81400" cy="1123950"/>
          </a:xfrm>
          <a:prstGeom xmlns:a="http://schemas.openxmlformats.org/drawingml/2006/main" prst="roundRect">
            <a:avLst>
              <a:gd name="adj" fmla="val 101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lide-1-kpi-value-2">
            <a:extLst xmlns:a="http://schemas.openxmlformats.org/drawingml/2006/main">
              <a:ext uri="{FF2B5EF4-FFF2-40B4-BE49-F238E27FC236}">
                <a16:creationId xmlns:a16="http://schemas.microsoft.com/office/drawing/2014/main" id="{FE3CE55B-54D7-4F95-BC3C-9E36F43E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0／0</a:t>
            </a:r>
          </a:p>
        </p:txBody>
      </p:sp>
      <p:sp>
        <p:nvSpPr>
          <p:cNvPr id="14" name="slide-1-kpi-label-2">
            <a:extLst xmlns:a="http://schemas.openxmlformats.org/drawingml/2006/main">
              <a:ext uri="{FF2B5EF4-FFF2-40B4-BE49-F238E27FC236}">
                <a16:creationId xmlns:a16="http://schemas.microsoft.com/office/drawing/2014/main" id="{57B60C7E-C906-43B3-A5FD-211143CE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使用天數</a:t>
            </a:r>
          </a:p>
        </p:txBody>
      </p:sp>
      <p:sp>
        <p:nvSpPr>
          <p:cNvPr id="15" name="slide-1-kpi-detail-2">
            <a:extLst xmlns:a="http://schemas.openxmlformats.org/drawingml/2006/main">
              <a:ext uri="{FF2B5EF4-FFF2-40B4-BE49-F238E27FC236}">
                <a16:creationId xmlns:a16="http://schemas.microsoft.com/office/drawing/2014/main" id="{E063362A-3A0A-4499-AE9B-91BADE8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約 0h 活躍互動</a:t>
            </a:r>
          </a:p>
        </p:txBody>
      </p:sp>
      <p:sp>
        <p:nvSpPr>
          <p:cNvPr id="16" name="slide-1-kpi-panel-3">
            <a:extLst xmlns:a="http://schemas.openxmlformats.org/drawingml/2006/main">
              <a:ext uri="{FF2B5EF4-FFF2-40B4-BE49-F238E27FC236}">
                <a16:creationId xmlns:a16="http://schemas.microsoft.com/office/drawing/2014/main" id="{C25DFEF5-3E39-4613-BD6C-B854D0D8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581400" cy="1123950"/>
          </a:xfrm>
          <a:prstGeom xmlns:a="http://schemas.openxmlformats.org/drawingml/2006/main" prst="roundRect">
            <a:avLst>
              <a:gd name="adj" fmla="val 101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lide-1-kpi-value-3">
            <a:extLst xmlns:a="http://schemas.openxmlformats.org/drawingml/2006/main">
              <a:ext uri="{FF2B5EF4-FFF2-40B4-BE49-F238E27FC236}">
                <a16:creationId xmlns:a16="http://schemas.microsoft.com/office/drawing/2014/main" id="{7A26F8A4-E7BB-4162-ACE9-1768661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slide-1-kpi-label-3">
            <a:extLst xmlns:a="http://schemas.openxmlformats.org/drawingml/2006/main">
              <a:ext uri="{FF2B5EF4-FFF2-40B4-BE49-F238E27FC236}">
                <a16:creationId xmlns:a16="http://schemas.microsoft.com/office/drawing/2014/main" id="{40DC7056-1608-40C8-B8D3-39F9E12B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期間總 Token</a:t>
            </a:r>
          </a:p>
        </p:txBody>
      </p:sp>
      <p:sp>
        <p:nvSpPr>
          <p:cNvPr id="19" name="slide-1-kpi-detail-3">
            <a:extLst xmlns:a="http://schemas.openxmlformats.org/drawingml/2006/main">
              <a:ext uri="{FF2B5EF4-FFF2-40B4-BE49-F238E27FC236}">
                <a16:creationId xmlns:a16="http://schemas.microsoft.com/office/drawing/2014/main" id="{301DD969-D335-46F0-885E-E7DF3257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87545"/>
            <a:ext cx="2114550" cy="269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</a:t>
            </a:r>
            <a:endParaRPr sz="13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ide-1-footer">
            <a:extLst xmlns:a="http://schemas.openxmlformats.org/drawingml/2006/main">
              <a:ext uri="{FF2B5EF4-FFF2-40B4-BE49-F238E27FC236}">
                <a16:creationId xmlns:a16="http://schemas.microsoft.com/office/drawing/2014/main" id="{BF721F6F-C4E0-47D4-889B-D0515E5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※ 本報告供個人 AI 應用與績效考核參考之一；不作為單一判定或員工排名。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資料來源：Codex 本機工作 session｜Token 供部門額度規劃｜快照：YYYY/MM/DD</a:t>
            </a:r>
          </a:p>
        </p:txBody>
      </p:sp>
      <p:sp>
        <p:nvSpPr>
          <p:cNvPr id="21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76A823CE-7011-4508-AE5F-1E6433E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45" name="slide-1-project-work-table"/>
          <p:cNvGraphicFramePr/>
          <p:nvPr/>
        </p:nvGraphicFramePr>
        <p:xfrm>
          <a:off xmlns:a="http://schemas.openxmlformats.org/drawingml/2006/main" x="6286500" y="3810000"/>
          <a:ext xmlns:a="http://schemas.openxmlformats.org/drawingml/2006/main" cx="5334000" cy="20935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1219200"/>
                <a:gridCol w="2571750"/>
              </a:tblGrid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專案／群組</a:t>
                      </a:r>
                    </a:p>
                  </a:txBody>
                  <a:tcPr marL="76200" marR="76200" marT="28575" marB="285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AI 工作紀錄數</a:t>
                      </a:r>
                    </a:p>
                  </a:txBody>
                  <a:tcPr marL="76200" marR="76200" marT="28575" marB="285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主要工作內容</a:t>
                      </a:r>
                    </a:p>
                  </a:txBody>
                  <a:tcPr marL="76200" marR="76200" marT="28575" marB="28575" anchor="ctr">
                    <a:solidFill>
                      <a:srgbClr val="EAF2FF"/>
                    </a:solidFill>
                  </a:tcPr>
                </a:tc>
              </a:tr>
              <a:tr h="298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專案 1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0 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AI 協作摘要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298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專案 2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0 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AI 協作摘要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298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專案 3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0 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AI 協作摘要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298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專案 4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0 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AI 協作摘要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298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專案 5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0 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AI 協作摘要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  <a:tr h="298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其他 0 個群組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155DCC"/>
                          </a:solidFill>
                          <a:latin typeface="Arial"/>
                          <a:ea typeface="Arial"/>
                          <a:cs typeface="Arial"/>
                        </a:rPr>
                        <a:t>0 筆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88">
                          <a:solidFill>
                            <a:srgbClr val="667085"/>
                          </a:solidFill>
                          <a:latin typeface="Arial"/>
                          <a:ea typeface="Arial"/>
                          <a:cs typeface="Arial"/>
                        </a:rPr>
                        <a:t>其他工作</a:t>
                      </a:r>
                    </a:p>
                  </a:txBody>
                  <a:tcPr marL="7620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-1-kpi-detail-3">
            <a:extLst xmlns:a="http://schemas.openxmlformats.org/drawingml/2006/main">
              <a:ext uri="{FF2B5EF4-FFF2-40B4-BE49-F238E27FC236}">
                <a16:creationId xmlns:a16="http://schemas.microsoft.com/office/drawing/2014/main" id="{BA4507E6-C66D-55EF-DBEB-53AD0F2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51123"/>
            <a:ext cx="2581155" cy="306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44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/>
              <a:t>含 </a:t>
            </a:r>
            <a:r>
              <a:rPr sz="1350"/>
              <a:t>Cached Input</a:t>
            </a:r>
            <a:r>
              <a:rPr sz="1350"/>
              <a:t>｜作為額度需求評估依據</a:t>
            </a:r>
            <a:endParaRPr sz="13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78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3E95E4CA-6F07-4876-8AF9-336F7C8D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專案與 AI Value｜工程應用、Skill 深度、可複用成果與風險支援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0F15AE0-E898-42CA-B68B-C5510832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已介入設計審查、工程分析與技術交付</a:t>
            </a:r>
          </a:p>
        </p:txBody>
      </p:sp>
      <p:sp>
        <p:nvSpPr>
          <p:cNvPr id="3" name="slide-2-case-panel">
            <a:extLst xmlns:a="http://schemas.openxmlformats.org/drawingml/2006/main">
              <a:ext uri="{FF2B5EF4-FFF2-40B4-BE49-F238E27FC236}">
                <a16:creationId xmlns:a16="http://schemas.microsoft.com/office/drawing/2014/main" id="{87797AF2-DC66-4CC6-BCDD-1A58B107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277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-2-case-heading">
            <a:extLst xmlns:a="http://schemas.openxmlformats.org/drawingml/2006/main">
              <a:ext uri="{FF2B5EF4-FFF2-40B4-BE49-F238E27FC236}">
                <a16:creationId xmlns:a16="http://schemas.microsoft.com/office/drawing/2014/main" id="{E63969F5-5A48-4E7D-8E29-2BC3890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代表工程應用｜3 個高頻主力案</a:t>
            </a:r>
          </a:p>
        </p:txBody>
      </p:sp>
      <p:sp>
        <p:nvSpPr>
          <p:cNvPr id="5" name="slide-2-case-problem">
            <a:extLst xmlns:a="http://schemas.openxmlformats.org/drawingml/2006/main">
              <a:ext uri="{FF2B5EF4-FFF2-40B4-BE49-F238E27FC236}">
                <a16:creationId xmlns:a16="http://schemas.microsoft.com/office/drawing/2014/main" id="{CAE64946-A618-4D5B-932B-724AF140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專案 1（0 筆）</a:t>
            </a:r>
          </a:p>
        </p:txBody>
      </p:sp>
      <p:sp>
        <p:nvSpPr>
          <p:cNvPr id="6" name="slide-2-case-problem-text">
            <a:extLst xmlns:a="http://schemas.openxmlformats.org/drawingml/2006/main">
              <a:ext uri="{FF2B5EF4-FFF2-40B4-BE49-F238E27FC236}">
                <a16:creationId xmlns:a16="http://schemas.microsoft.com/office/drawing/2014/main" id="{11B6D5E7-C49C-444D-8179-E5A4D38E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AI 協作重點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分析／審查內容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產出／決策</a:t>
            </a:r>
          </a:p>
        </p:txBody>
      </p:sp>
      <p:sp>
        <p:nvSpPr>
          <p:cNvPr id="7" name="slide-2-case-rule-1">
            <a:extLst xmlns:a="http://schemas.openxmlformats.org/drawingml/2006/main">
              <a:ext uri="{FF2B5EF4-FFF2-40B4-BE49-F238E27FC236}">
                <a16:creationId xmlns:a16="http://schemas.microsoft.com/office/drawing/2014/main" id="{252DA46A-E1A2-4168-8639-6D759E1D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lide-2-case-action">
            <a:extLst xmlns:a="http://schemas.openxmlformats.org/drawingml/2006/main">
              <a:ext uri="{FF2B5EF4-FFF2-40B4-BE49-F238E27FC236}">
                <a16:creationId xmlns:a16="http://schemas.microsoft.com/office/drawing/2014/main" id="{AEC90562-7701-42C0-B303-17D26CE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專案 2（0 筆）</a:t>
            </a:r>
          </a:p>
        </p:txBody>
      </p:sp>
      <p:sp>
        <p:nvSpPr>
          <p:cNvPr id="9" name="slide-2-case-action-text">
            <a:extLst xmlns:a="http://schemas.openxmlformats.org/drawingml/2006/main">
              <a:ext uri="{FF2B5EF4-FFF2-40B4-BE49-F238E27FC236}">
                <a16:creationId xmlns:a16="http://schemas.microsoft.com/office/drawing/2014/main" id="{7DF832AD-BBDC-4F11-9589-963FD61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AI 協作重點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分析／審查內容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產出／決策</a:t>
            </a:r>
          </a:p>
        </p:txBody>
      </p:sp>
      <p:sp>
        <p:nvSpPr>
          <p:cNvPr id="10" name="slide-2-case-rule-2">
            <a:extLst xmlns:a="http://schemas.openxmlformats.org/drawingml/2006/main">
              <a:ext uri="{FF2B5EF4-FFF2-40B4-BE49-F238E27FC236}">
                <a16:creationId xmlns:a16="http://schemas.microsoft.com/office/drawing/2014/main" id="{68A37622-9101-4635-8D55-DA1EC21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lide-2-case-result">
            <a:extLst xmlns:a="http://schemas.openxmlformats.org/drawingml/2006/main">
              <a:ext uri="{FF2B5EF4-FFF2-40B4-BE49-F238E27FC236}">
                <a16:creationId xmlns:a16="http://schemas.microsoft.com/office/drawing/2014/main" id="{7B3C24C1-977D-428C-8C64-71174951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專案 3（0 筆）</a:t>
            </a:r>
          </a:p>
        </p:txBody>
      </p:sp>
      <p:sp>
        <p:nvSpPr>
          <p:cNvPr id="12" name="slide-2-case-result-text">
            <a:extLst xmlns:a="http://schemas.openxmlformats.org/drawingml/2006/main">
              <a:ext uri="{FF2B5EF4-FFF2-40B4-BE49-F238E27FC236}">
                <a16:creationId xmlns:a16="http://schemas.microsoft.com/office/drawing/2014/main" id="{DD92070B-61C2-489B-9A06-5A0EC8A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30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AI 協作重點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分析／審查內容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產出／決策</a:t>
            </a:r>
          </a:p>
        </p:txBody>
      </p:sp>
      <p:sp>
        <p:nvSpPr>
          <p:cNvPr id="13" name="slide-2-value-panel-1">
            <a:extLst xmlns:a="http://schemas.openxmlformats.org/drawingml/2006/main">
              <a:ext uri="{FF2B5EF4-FFF2-40B4-BE49-F238E27FC236}">
                <a16:creationId xmlns:a16="http://schemas.microsoft.com/office/drawing/2014/main" id="{68D15283-F625-4F8E-AD50-0C5F4892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581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lide-2-value-no-1">
            <a:extLst xmlns:a="http://schemas.openxmlformats.org/drawingml/2006/main">
              <a:ext uri="{FF2B5EF4-FFF2-40B4-BE49-F238E27FC236}">
                <a16:creationId xmlns:a16="http://schemas.microsoft.com/office/drawing/2014/main" id="{597CA85B-50C5-46AA-849D-79A448E3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5" name="slide-2-value-title-1">
            <a:extLst xmlns:a="http://schemas.openxmlformats.org/drawingml/2006/main">
              <a:ext uri="{FF2B5EF4-FFF2-40B4-BE49-F238E27FC236}">
                <a16:creationId xmlns:a16="http://schemas.microsoft.com/office/drawing/2014/main" id="{2F8B038C-C36D-4EE6-85A0-4C4FF3A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其餘工作｜0 個群組</a:t>
            </a:r>
          </a:p>
        </p:txBody>
      </p:sp>
      <p:sp>
        <p:nvSpPr>
          <p:cNvPr id="16" name="slide-2-value-body-1">
            <a:extLst xmlns:a="http://schemas.openxmlformats.org/drawingml/2006/main">
              <a:ext uri="{FF2B5EF4-FFF2-40B4-BE49-F238E27FC236}">
                <a16:creationId xmlns:a16="http://schemas.microsoft.com/office/drawing/2014/main" id="{22F0F2DD-C853-4D15-8478-9CE2AAA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資料累積中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—</a:t>
            </a:r>
          </a:p>
        </p:txBody>
      </p:sp>
      <p:sp>
        <p:nvSpPr>
          <p:cNvPr id="17" name="slide-2-value-panel-2">
            <a:extLst xmlns:a="http://schemas.openxmlformats.org/drawingml/2006/main">
              <a:ext uri="{FF2B5EF4-FFF2-40B4-BE49-F238E27FC236}">
                <a16:creationId xmlns:a16="http://schemas.microsoft.com/office/drawing/2014/main" id="{9DAC4562-67AD-4DFD-9A94-497FB590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3581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lide-2-value-no-2">
            <a:extLst xmlns:a="http://schemas.openxmlformats.org/drawingml/2006/main">
              <a:ext uri="{FF2B5EF4-FFF2-40B4-BE49-F238E27FC236}">
                <a16:creationId xmlns:a16="http://schemas.microsoft.com/office/drawing/2014/main" id="{B0A29CDC-04EC-4A67-B0A1-37659FCD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B79E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9" name="slide-2-value-title-2">
            <a:extLst xmlns:a="http://schemas.openxmlformats.org/drawingml/2006/main">
              <a:ext uri="{FF2B5EF4-FFF2-40B4-BE49-F238E27FC236}">
                <a16:creationId xmlns:a16="http://schemas.microsoft.com/office/drawing/2014/main" id="{A8914FFA-B00C-4D6B-B3B7-328BC4B2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Skill 覆蓋率｜0%（0／0）</a:t>
            </a:r>
          </a:p>
        </p:txBody>
      </p:sp>
      <p:sp>
        <p:nvSpPr>
          <p:cNvPr id="20" name="slide-2-value-body-2">
            <a:extLst xmlns:a="http://schemas.openxmlformats.org/drawingml/2006/main">
              <a:ext uri="{FF2B5EF4-FFF2-40B4-BE49-F238E27FC236}">
                <a16:creationId xmlns:a16="http://schemas.microsoft.com/office/drawing/2014/main" id="{C2A7F3F1-AFA2-4ECA-9B6D-DFD46A8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尚未偵測到 Skill 紀錄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—</a:t>
            </a:r>
          </a:p>
        </p:txBody>
      </p:sp>
      <p:sp>
        <p:nvSpPr>
          <p:cNvPr id="21" name="slide-2-value-panel-3">
            <a:extLst xmlns:a="http://schemas.openxmlformats.org/drawingml/2006/main">
              <a:ext uri="{FF2B5EF4-FFF2-40B4-BE49-F238E27FC236}">
                <a16:creationId xmlns:a16="http://schemas.microsoft.com/office/drawing/2014/main" id="{81690070-E389-4C76-8A35-2F8ECF3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3581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lide-2-value-no-3">
            <a:extLst xmlns:a="http://schemas.openxmlformats.org/drawingml/2006/main">
              <a:ext uri="{FF2B5EF4-FFF2-40B4-BE49-F238E27FC236}">
                <a16:creationId xmlns:a16="http://schemas.microsoft.com/office/drawing/2014/main" id="{1BA9F434-ED79-4D71-BDDA-57875515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A5AF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3" name="slide-2-value-title-3">
            <a:extLst xmlns:a="http://schemas.openxmlformats.org/drawingml/2006/main">
              <a:ext uri="{FF2B5EF4-FFF2-40B4-BE49-F238E27FC236}">
                <a16:creationId xmlns:a16="http://schemas.microsoft.com/office/drawing/2014/main" id="{674FE3C3-8EF4-4AF5-9522-CBD34A3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Value｜助益觀察</a:t>
            </a:r>
          </a:p>
        </p:txBody>
      </p:sp>
      <p:sp>
        <p:nvSpPr>
          <p:cNvPr id="24" name="slide-2-value-body-3">
            <a:extLst xmlns:a="http://schemas.openxmlformats.org/drawingml/2006/main">
              <a:ext uri="{FF2B5EF4-FFF2-40B4-BE49-F238E27FC236}">
                <a16:creationId xmlns:a16="http://schemas.microsoft.com/office/drawing/2014/main" id="{79A360AB-9620-4575-8955-02C0CC29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任務推進｜資料累積中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品質與查核｜資料累積中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可複用成果｜資料累積中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風險辨識｜資料累積中</a:t>
            </a:r>
          </a:p>
        </p:txBody>
      </p:sp>
      <p:sp>
        <p:nvSpPr>
          <p:cNvPr id="25" name="slide-2-next-step">
            <a:extLst xmlns:a="http://schemas.openxmlformats.org/drawingml/2006/main">
              <a:ext uri="{FF2B5EF4-FFF2-40B4-BE49-F238E27FC236}">
                <a16:creationId xmlns:a16="http://schemas.microsoft.com/office/drawing/2014/main" id="{BB711340-D56E-4D54-9C1D-7AE8FFD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AI Value 記錄 AI 的實際工作助益，供績效考核參考之一；不作單一判定或排名。</a:t>
            </a:r>
          </a:p>
        </p:txBody>
      </p:sp>
      <p:sp>
        <p:nvSpPr>
          <p:cNvPr id="26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CAB1B2C0-9E93-4B65-8A3A-AE6BB97C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3810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2026-08-14T16:36:09.6400000Z</dcterms:created>
  <dcterms:modified xsi:type="dcterms:W3CDTF">2026-08-14T16:36:09.6400000Z</dcterms:modified>
</coreProperties>
</file>